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77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275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797C27-D599-49D1-8C27-FE93EB5C375B}" v="10" dt="2025-12-10T19:24:22.0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6" d="100"/>
          <a:sy n="86" d="100"/>
        </p:scale>
        <p:origin x="720" y="16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nthala kaushik" userId="77b6442180162cee" providerId="LiveId" clId="{3DD1A4AA-2C9A-47C3-9B3E-78581A3914AB}"/>
    <pc:docChg chg="undo custSel modSld">
      <pc:chgData name="chinthala kaushik" userId="77b6442180162cee" providerId="LiveId" clId="{3DD1A4AA-2C9A-47C3-9B3E-78581A3914AB}" dt="2025-12-10T19:24:32.195" v="38" actId="20577"/>
      <pc:docMkLst>
        <pc:docMk/>
      </pc:docMkLst>
      <pc:sldChg chg="addSp delSp modSp mod">
        <pc:chgData name="chinthala kaushik" userId="77b6442180162cee" providerId="LiveId" clId="{3DD1A4AA-2C9A-47C3-9B3E-78581A3914AB}" dt="2025-12-10T19:24:32.195" v="38" actId="20577"/>
        <pc:sldMkLst>
          <pc:docMk/>
          <pc:sldMk cId="952041109" sldId="272"/>
        </pc:sldMkLst>
        <pc:spChg chg="add del mod">
          <ac:chgData name="chinthala kaushik" userId="77b6442180162cee" providerId="LiveId" clId="{3DD1A4AA-2C9A-47C3-9B3E-78581A3914AB}" dt="2025-12-10T19:22:30.837" v="6" actId="931"/>
          <ac:spMkLst>
            <pc:docMk/>
            <pc:sldMk cId="952041109" sldId="272"/>
            <ac:spMk id="4" creationId="{8FB55E1C-0227-84FE-8255-259A3049B48E}"/>
          </ac:spMkLst>
        </pc:spChg>
        <pc:spChg chg="add del">
          <ac:chgData name="chinthala kaushik" userId="77b6442180162cee" providerId="LiveId" clId="{3DD1A4AA-2C9A-47C3-9B3E-78581A3914AB}" dt="2025-12-10T19:22:15.251" v="3" actId="22"/>
          <ac:spMkLst>
            <pc:docMk/>
            <pc:sldMk cId="952041109" sldId="272"/>
            <ac:spMk id="8" creationId="{9E82E44D-9019-B51C-31C7-844798262D83}"/>
          </ac:spMkLst>
        </pc:spChg>
        <pc:spChg chg="mod">
          <ac:chgData name="chinthala kaushik" userId="77b6442180162cee" providerId="LiveId" clId="{3DD1A4AA-2C9A-47C3-9B3E-78581A3914AB}" dt="2025-12-10T19:24:32.195" v="38" actId="20577"/>
          <ac:spMkLst>
            <pc:docMk/>
            <pc:sldMk cId="952041109" sldId="272"/>
            <ac:spMk id="10" creationId="{BF0B7A3A-1A50-C652-3B28-672CFFB20F27}"/>
          </ac:spMkLst>
        </pc:spChg>
        <pc:spChg chg="add del">
          <ac:chgData name="chinthala kaushik" userId="77b6442180162cee" providerId="LiveId" clId="{3DD1A4AA-2C9A-47C3-9B3E-78581A3914AB}" dt="2025-12-10T19:22:18.465" v="5" actId="22"/>
          <ac:spMkLst>
            <pc:docMk/>
            <pc:sldMk cId="952041109" sldId="272"/>
            <ac:spMk id="12" creationId="{3E551828-EEB6-B683-956F-336DE2077088}"/>
          </ac:spMkLst>
        </pc:spChg>
        <pc:spChg chg="add del mod">
          <ac:chgData name="chinthala kaushik" userId="77b6442180162cee" providerId="LiveId" clId="{3DD1A4AA-2C9A-47C3-9B3E-78581A3914AB}" dt="2025-12-10T19:24:29.591" v="36"/>
          <ac:spMkLst>
            <pc:docMk/>
            <pc:sldMk cId="952041109" sldId="272"/>
            <ac:spMk id="24" creationId="{EEFC9859-47A2-20EF-9959-7CEC69E64192}"/>
          </ac:spMkLst>
        </pc:spChg>
        <pc:picChg chg="del">
          <ac:chgData name="chinthala kaushik" userId="77b6442180162cee" providerId="LiveId" clId="{3DD1A4AA-2C9A-47C3-9B3E-78581A3914AB}" dt="2025-12-10T19:22:12.310" v="1" actId="478"/>
          <ac:picMkLst>
            <pc:docMk/>
            <pc:sldMk cId="952041109" sldId="272"/>
            <ac:picMk id="5" creationId="{1D88D26C-DB5F-C469-E505-39D3B55B49A6}"/>
          </ac:picMkLst>
        </pc:picChg>
        <pc:picChg chg="add mod">
          <ac:chgData name="chinthala kaushik" userId="77b6442180162cee" providerId="LiveId" clId="{3DD1A4AA-2C9A-47C3-9B3E-78581A3914AB}" dt="2025-12-10T19:22:53.233" v="16" actId="1076"/>
          <ac:picMkLst>
            <pc:docMk/>
            <pc:sldMk cId="952041109" sldId="272"/>
            <ac:picMk id="14" creationId="{7F649AF8-B003-420B-6DF6-35B7570A1A32}"/>
          </ac:picMkLst>
        </pc:picChg>
        <pc:inkChg chg="add">
          <ac:chgData name="chinthala kaushik" userId="77b6442180162cee" providerId="LiveId" clId="{3DD1A4AA-2C9A-47C3-9B3E-78581A3914AB}" dt="2025-12-10T18:59:35.461" v="0" actId="9405"/>
          <ac:inkMkLst>
            <pc:docMk/>
            <pc:sldMk cId="952041109" sldId="272"/>
            <ac:inkMk id="9" creationId="{F4DF3D07-846F-FF74-25B4-FF3ECAF7633C}"/>
          </ac:inkMkLst>
        </pc:inkChg>
        <pc:inkChg chg="add del">
          <ac:chgData name="chinthala kaushik" userId="77b6442180162cee" providerId="LiveId" clId="{3DD1A4AA-2C9A-47C3-9B3E-78581A3914AB}" dt="2025-12-10T19:23:07.678" v="18" actId="9405"/>
          <ac:inkMkLst>
            <pc:docMk/>
            <pc:sldMk cId="952041109" sldId="272"/>
            <ac:inkMk id="15" creationId="{82078AD2-BE54-9280-E09F-7553C395A73C}"/>
          </ac:inkMkLst>
        </pc:inkChg>
        <pc:inkChg chg="add del">
          <ac:chgData name="chinthala kaushik" userId="77b6442180162cee" providerId="LiveId" clId="{3DD1A4AA-2C9A-47C3-9B3E-78581A3914AB}" dt="2025-12-10T19:23:23.789" v="22" actId="9405"/>
          <ac:inkMkLst>
            <pc:docMk/>
            <pc:sldMk cId="952041109" sldId="272"/>
            <ac:inkMk id="16" creationId="{DB18E2E4-0DAF-B783-9ABB-6DF20A5A19BD}"/>
          </ac:inkMkLst>
        </pc:inkChg>
        <pc:inkChg chg="add">
          <ac:chgData name="chinthala kaushik" userId="77b6442180162cee" providerId="LiveId" clId="{3DD1A4AA-2C9A-47C3-9B3E-78581A3914AB}" dt="2025-12-10T19:23:15.971" v="20"/>
          <ac:inkMkLst>
            <pc:docMk/>
            <pc:sldMk cId="952041109" sldId="272"/>
            <ac:inkMk id="17" creationId="{27DC9E52-89C4-A51A-D5BA-B88A015FBDC8}"/>
          </ac:inkMkLst>
        </pc:inkChg>
        <pc:inkChg chg="add del">
          <ac:chgData name="chinthala kaushik" userId="77b6442180162cee" providerId="LiveId" clId="{3DD1A4AA-2C9A-47C3-9B3E-78581A3914AB}" dt="2025-12-10T19:23:37.888" v="26" actId="9405"/>
          <ac:inkMkLst>
            <pc:docMk/>
            <pc:sldMk cId="952041109" sldId="272"/>
            <ac:inkMk id="18" creationId="{20180464-F8F5-DF52-C227-CE27DBF20674}"/>
          </ac:inkMkLst>
        </pc:inkChg>
        <pc:inkChg chg="add">
          <ac:chgData name="chinthala kaushik" userId="77b6442180162cee" providerId="LiveId" clId="{3DD1A4AA-2C9A-47C3-9B3E-78581A3914AB}" dt="2025-12-10T19:23:33.348" v="24"/>
          <ac:inkMkLst>
            <pc:docMk/>
            <pc:sldMk cId="952041109" sldId="272"/>
            <ac:inkMk id="19" creationId="{B53C4E71-9F31-9DEC-D76E-0104691675C7}"/>
          </ac:inkMkLst>
        </pc:inkChg>
        <pc:inkChg chg="add del">
          <ac:chgData name="chinthala kaushik" userId="77b6442180162cee" providerId="LiveId" clId="{3DD1A4AA-2C9A-47C3-9B3E-78581A3914AB}" dt="2025-12-10T19:23:50.770" v="30" actId="9405"/>
          <ac:inkMkLst>
            <pc:docMk/>
            <pc:sldMk cId="952041109" sldId="272"/>
            <ac:inkMk id="20" creationId="{586039A8-1CD3-6EE7-9066-9BA7887CDE45}"/>
          </ac:inkMkLst>
        </pc:inkChg>
        <pc:inkChg chg="add">
          <ac:chgData name="chinthala kaushik" userId="77b6442180162cee" providerId="LiveId" clId="{3DD1A4AA-2C9A-47C3-9B3E-78581A3914AB}" dt="2025-12-10T19:23:47.455" v="28"/>
          <ac:inkMkLst>
            <pc:docMk/>
            <pc:sldMk cId="952041109" sldId="272"/>
            <ac:inkMk id="21" creationId="{2E92D557-25F1-F6AE-38BB-369F391D7489}"/>
          </ac:inkMkLst>
        </pc:inkChg>
        <pc:inkChg chg="add del">
          <ac:chgData name="chinthala kaushik" userId="77b6442180162cee" providerId="LiveId" clId="{3DD1A4AA-2C9A-47C3-9B3E-78581A3914AB}" dt="2025-12-10T19:24:08.540" v="32"/>
          <ac:inkMkLst>
            <pc:docMk/>
            <pc:sldMk cId="952041109" sldId="272"/>
            <ac:inkMk id="22" creationId="{9438A7F2-B581-1E5A-8EB7-926A402624AE}"/>
          </ac:inkMkLst>
        </pc:inkChg>
        <pc:inkChg chg="add mod">
          <ac:chgData name="chinthala kaushik" userId="77b6442180162cee" providerId="LiveId" clId="{3DD1A4AA-2C9A-47C3-9B3E-78581A3914AB}" dt="2025-12-10T19:24:12.084" v="33"/>
          <ac:inkMkLst>
            <pc:docMk/>
            <pc:sldMk cId="952041109" sldId="272"/>
            <ac:inkMk id="23" creationId="{DF671D0C-646F-82AB-E0D8-3C7884D0562B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18:49:37.68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21 24423,'1146'-20'0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18:59:35.4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24575,'65'2'0,"0"2"0,0 3 0,-1 4 0,0 1 0,110 39 0,-118-30 0,-34-12 0,1 0 0,-1-2 0,1 0 0,1-2 0,39 5 0,-43-8 0,33 6 0,-14-1 0,123 29 0,-118-24 0,0-2 0,1-2 0,80 4 0,-85-10 0,-1 2 0,72 16 0,-93-16 0,11 0-90,-1-1 0,1-2 0,32-1 0,-34-1-915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19:24:08.5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24510,'1653'0'0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C41C-A487-0C45-A261-16903102544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URL</a:t>
            </a:r>
          </a:p>
        </p:txBody>
      </p:sp>
    </p:spTree>
    <p:extLst>
      <p:ext uri="{BB962C8B-B14F-4D97-AF65-F5344CB8AC3E}">
        <p14:creationId xmlns:p14="http://schemas.microsoft.com/office/powerpoint/2010/main" val="3387458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C41C-A487-0C45-A261-16903102544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URL</a:t>
            </a:r>
          </a:p>
        </p:txBody>
      </p:sp>
    </p:spTree>
    <p:extLst>
      <p:ext uri="{BB962C8B-B14F-4D97-AF65-F5344CB8AC3E}">
        <p14:creationId xmlns:p14="http://schemas.microsoft.com/office/powerpoint/2010/main" val="3073516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C41C-A487-0C45-A261-16903102544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URL</a:t>
            </a:r>
          </a:p>
        </p:txBody>
      </p:sp>
    </p:spTree>
    <p:extLst>
      <p:ext uri="{BB962C8B-B14F-4D97-AF65-F5344CB8AC3E}">
        <p14:creationId xmlns:p14="http://schemas.microsoft.com/office/powerpoint/2010/main" val="997952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51426"/>
            <a:ext cx="4038600" cy="317339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51426"/>
            <a:ext cx="4038600" cy="317339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C41C-A487-0C45-A261-16903102544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URL</a:t>
            </a:r>
          </a:p>
        </p:txBody>
      </p:sp>
    </p:spTree>
    <p:extLst>
      <p:ext uri="{BB962C8B-B14F-4D97-AF65-F5344CB8AC3E}">
        <p14:creationId xmlns:p14="http://schemas.microsoft.com/office/powerpoint/2010/main" val="76781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397255"/>
            <a:ext cx="4040188" cy="43620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199" y="1989969"/>
            <a:ext cx="4040188" cy="26940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397255"/>
            <a:ext cx="4041775" cy="43620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989969"/>
            <a:ext cx="4041775" cy="26940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C41C-A487-0C45-A261-16903102544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URL</a:t>
            </a:r>
          </a:p>
        </p:txBody>
      </p:sp>
    </p:spTree>
    <p:extLst>
      <p:ext uri="{BB962C8B-B14F-4D97-AF65-F5344CB8AC3E}">
        <p14:creationId xmlns:p14="http://schemas.microsoft.com/office/powerpoint/2010/main" val="2205807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C41C-A487-0C45-A261-16903102544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URL</a:t>
            </a:r>
          </a:p>
        </p:txBody>
      </p:sp>
    </p:spTree>
    <p:extLst>
      <p:ext uri="{BB962C8B-B14F-4D97-AF65-F5344CB8AC3E}">
        <p14:creationId xmlns:p14="http://schemas.microsoft.com/office/powerpoint/2010/main" val="2535540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C41C-A487-0C45-A261-16903102544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URL</a:t>
            </a:r>
          </a:p>
        </p:txBody>
      </p:sp>
    </p:spTree>
    <p:extLst>
      <p:ext uri="{BB962C8B-B14F-4D97-AF65-F5344CB8AC3E}">
        <p14:creationId xmlns:p14="http://schemas.microsoft.com/office/powerpoint/2010/main" val="1410809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79122"/>
            <a:ext cx="3008313" cy="77736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679122"/>
            <a:ext cx="5111750" cy="391550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609519"/>
            <a:ext cx="3008313" cy="29851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C41C-A487-0C45-A261-16903102544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URL</a:t>
            </a:r>
          </a:p>
        </p:txBody>
      </p:sp>
    </p:spTree>
    <p:extLst>
      <p:ext uri="{BB962C8B-B14F-4D97-AF65-F5344CB8AC3E}">
        <p14:creationId xmlns:p14="http://schemas.microsoft.com/office/powerpoint/2010/main" val="2373430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858517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717648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83570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8032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702644"/>
            <a:ext cx="8229600" cy="644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10179"/>
            <a:ext cx="8229600" cy="2984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3C41C-A487-0C45-A261-16903102544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URL</a:t>
            </a:r>
          </a:p>
        </p:txBody>
      </p:sp>
      <p:pic>
        <p:nvPicPr>
          <p:cNvPr id="7" name="Picture 6" descr="MD-flag-background-ppt.png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571500"/>
          </a:xfrm>
          <a:prstGeom prst="rect">
            <a:avLst/>
          </a:prstGeom>
        </p:spPr>
      </p:pic>
      <p:pic>
        <p:nvPicPr>
          <p:cNvPr id="8" name="Picture 7" descr="UMBC-primary-logo-CMYK-on-black.png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87" y="86177"/>
            <a:ext cx="1749252" cy="402989"/>
          </a:xfrm>
          <a:prstGeom prst="rect">
            <a:avLst/>
          </a:prstGeom>
        </p:spPr>
      </p:pic>
      <p:pic>
        <p:nvPicPr>
          <p:cNvPr id="10" name="Picture 9" descr="corner-element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918" y="3901058"/>
            <a:ext cx="1224081" cy="12424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290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thwik-Sriperambhuduri/DS606-Chest-X-Ray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kaggle.com/datasets/paultimothymooney/chest-xray-pneumonia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7" Type="http://schemas.openxmlformats.org/officeDocument/2006/relationships/image" Target="../media/image2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customXml" Target="../ink/ink2.xml"/><Relationship Id="rId4" Type="http://schemas.openxmlformats.org/officeDocument/2006/relationships/image" Target="../media/image26.png"/><Relationship Id="rId9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86/s40537-019-0197-0" TargetMode="External"/><Relationship Id="rId2" Type="http://schemas.openxmlformats.org/officeDocument/2006/relationships/hyperlink" Target="https://doi.org/10.1016/j.media.2023.102840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doi.org/10.1016/j.media.2017.07.005" TargetMode="External"/><Relationship Id="rId4" Type="http://schemas.openxmlformats.org/officeDocument/2006/relationships/hyperlink" Target="https://arxiv.org/abs/1711.05225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EARLY DISEASE DETECTION USING MEDICAL IMAGING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43600" y="3365912"/>
            <a:ext cx="6400800" cy="1314450"/>
          </a:xfrm>
        </p:spPr>
        <p:txBody>
          <a:bodyPr>
            <a:normAutofit fontScale="55000" lnSpcReduction="20000"/>
          </a:bodyPr>
          <a:lstStyle/>
          <a:p>
            <a:pPr lvl="0" algn="l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Team F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400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Sathwik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Sriperambhuduri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400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Kaushik Chinthala</a:t>
            </a:r>
          </a:p>
          <a:p>
            <a:pPr lvl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400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Divya Yalla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89409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3E18EA-9470-9FF6-F2FC-A1B10FC42C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8036" y="543412"/>
            <a:ext cx="5987928" cy="2984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D92571-0986-8833-4407-737A6104ECF7}"/>
              </a:ext>
            </a:extLst>
          </p:cNvPr>
          <p:cNvSpPr txBox="1"/>
          <p:nvPr/>
        </p:nvSpPr>
        <p:spPr>
          <a:xfrm>
            <a:off x="412512" y="3905107"/>
            <a:ext cx="26606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Kaggle IDs and </a:t>
            </a:r>
          </a:p>
          <a:p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Links</a:t>
            </a:r>
            <a:endParaRPr 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07AA7-8A28-1076-502C-5D8AE1AB03DB}"/>
              </a:ext>
            </a:extLst>
          </p:cNvPr>
          <p:cNvSpPr txBox="1"/>
          <p:nvPr/>
        </p:nvSpPr>
        <p:spPr>
          <a:xfrm>
            <a:off x="3788229" y="3685160"/>
            <a:ext cx="433824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lnSpc>
                <a:spcPct val="90000"/>
              </a:lnSpc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Sathwik </a:t>
            </a:r>
            <a:r>
              <a:rPr lang="en-US" sz="140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Sriperambhuduri</a:t>
            </a:r>
            <a:r>
              <a:rPr lang="en-US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(Kaggle ID: 12752384)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Divya Yalla (Kaggle ID: 19775604)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Kaushik Chinthala ( Kaggle ID: 19102354)</a:t>
            </a:r>
          </a:p>
          <a:p>
            <a:pPr marL="171450" lvl="0" indent="-1714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GitHub Link: </a:t>
            </a:r>
            <a:r>
              <a:rPr lang="en-US" sz="1400" u="sng" dirty="0">
                <a:solidFill>
                  <a:schemeClr val="hlink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  <a:hlinkClick r:id="rId3"/>
              </a:rPr>
              <a:t>https://github.com/Sathwik-Sriperambhuduri/DS606-Chest-X-Ray</a:t>
            </a:r>
            <a:endParaRPr lang="en-US" sz="1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7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3FF91-5701-E4A4-02AD-8B5B71840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859197"/>
            <a:ext cx="8229600" cy="644065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085F-A9AD-0D3B-3768-9140FAAFA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032380"/>
            <a:ext cx="8356791" cy="391088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Pneumonia is one of the leading causes of illness and death in children under five worldwide. Pediatric chest X-rays are difficult to interpret because of overlapping anatomical structures, low contrast, and subtle disease patterns. 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  <a:p>
            <a:pPr marL="0" indent="0">
              <a:buNone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To develop a deep learning model to automatically detect pneumonia in pediatric chest X-ray images, assisting doctors in early and accurate diagnosis.</a:t>
            </a:r>
          </a:p>
          <a:p>
            <a:pPr marL="0" indent="0">
              <a:buNone/>
            </a:pPr>
            <a:r>
              <a:rPr lang="en-US" sz="2200" b="1" dirty="0">
                <a:latin typeface="Times New Roman"/>
                <a:ea typeface="Times New Roman"/>
                <a:cs typeface="Times New Roman"/>
                <a:sym typeface="Times New Roman"/>
              </a:rPr>
              <a:t>Approach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preprocessed and augmented the X-ray images, addressed class imbalance, and created a clean Train/Validation/Test pipeline.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built both classical ML baselines (HOG/LBP + SVM) and deep learning models including a custom CNN, ResNet50, DenseNet121, and EfficientNet-B0 with fine-tuning.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evaluated all models using accuracy, precision, recall, confusion matrices, and Grad-CAM explainability to identify the best-performing approach.</a:t>
            </a:r>
            <a:endParaRPr lang="en-US" sz="15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/>
                <a:ea typeface="Times New Roman"/>
                <a:cs typeface="Times New Roman"/>
                <a:sym typeface="Times New Roman"/>
              </a:rPr>
              <a:t>Outcome</a:t>
            </a:r>
            <a:b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5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An automated, explainable AI system for medical image classification improving diagnostic speed, accuracy, and trust through Grad-CAM visualization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214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76288-D811-5405-AAF7-3110185F1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7" y="380611"/>
            <a:ext cx="8229600" cy="644065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200F8-497D-5860-F066-08664EEC0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3" y="921173"/>
            <a:ext cx="8808720" cy="3436383"/>
          </a:xfrm>
        </p:spPr>
        <p:txBody>
          <a:bodyPr>
            <a:noAutofit/>
          </a:bodyPr>
          <a:lstStyle/>
          <a:p>
            <a:pPr marL="0" lvl="0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600"/>
              <a:buNone/>
            </a:pPr>
            <a:r>
              <a:rPr lang="en-US" sz="1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Dataset Used by Others:</a:t>
            </a:r>
            <a:endParaRPr lang="en-US" sz="1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600"/>
            </a:pPr>
            <a:r>
              <a:rPr lang="en-US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Kaggle Chest X-Ray Pneumonia dataset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600"/>
              <a:buNone/>
            </a:pPr>
            <a:r>
              <a:rPr lang="en-US" sz="1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Key Studies &amp; Methods:</a:t>
            </a:r>
            <a:endParaRPr lang="en-US" sz="1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600"/>
            </a:pPr>
            <a:r>
              <a:rPr lang="en-US" sz="1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CheXNet (</a:t>
            </a:r>
            <a:r>
              <a:rPr lang="en-US" sz="1400" b="1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Rajpurkar</a:t>
            </a:r>
            <a:r>
              <a:rPr lang="en-US" sz="1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et al., 2017):</a:t>
            </a:r>
            <a:r>
              <a:rPr lang="en-US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Used DenseNet-121, achieved radiologist-level pneumonia detection accuracy.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600"/>
            </a:pPr>
            <a:r>
              <a:rPr lang="en-US" sz="1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Sharma et al. (2021):</a:t>
            </a:r>
            <a:r>
              <a:rPr lang="en-US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Applied CNN with data augmentation → 93% accuracy.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600"/>
            </a:pPr>
            <a:r>
              <a:rPr lang="en-US" sz="1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Shamshad et al. (2023):</a:t>
            </a:r>
            <a:r>
              <a:rPr lang="en-US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Reviewed Vision Transformers in medical imaging → high accuracy but high compute cost.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600"/>
              <a:buNone/>
            </a:pPr>
            <a:r>
              <a:rPr lang="en-US" sz="1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Recent Kaggle Submissions:</a:t>
            </a:r>
            <a:r>
              <a:rPr lang="en-US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Transfer learning (ResNet50, VGG16) with 90–94% accuracy.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600"/>
              <a:buNone/>
            </a:pPr>
            <a:r>
              <a:rPr lang="en-US" sz="1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Feature Extraction Used:</a:t>
            </a:r>
            <a:endParaRPr lang="en-US" sz="1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600"/>
            </a:pPr>
            <a:r>
              <a:rPr lang="en-US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CNN-based deep features, sometimes combined with classical HOG/SIFT.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600"/>
            </a:pPr>
            <a:r>
              <a:rPr lang="en-US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Image augmentation for balance and generalization.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600"/>
              <a:buNone/>
            </a:pPr>
            <a:r>
              <a:rPr lang="en-US" sz="1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Leaderboard Status (Kaggle):</a:t>
            </a:r>
            <a:endParaRPr lang="en-US" sz="1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600"/>
            </a:pPr>
            <a:r>
              <a:rPr lang="en-US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Best public score ≈ 94% accuracy</a:t>
            </a: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459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BD0C-0F47-424B-130C-156D7842C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2644"/>
            <a:ext cx="8229600" cy="64406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0AA31-38CA-6967-466A-22C5B2D4EB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5636" y="1451425"/>
            <a:ext cx="4731328" cy="3743722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Chest X-ray Pneumonia dataset : </a:t>
            </a:r>
            <a:r>
              <a:rPr lang="en-US" sz="1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https://www.kaggle.com/datasets/paultimothymooney/chest-xray-pneumonia</a:t>
            </a:r>
            <a:endParaRPr lang="en-US" sz="1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800"/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5,863 images</a:t>
            </a:r>
          </a:p>
          <a:p>
            <a:pPr marL="457200" lvl="1" indent="-11430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 5,216 images</a:t>
            </a:r>
          </a:p>
          <a:p>
            <a:pPr marL="457200" lvl="1" indent="-11430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Validation: 220 images</a:t>
            </a:r>
          </a:p>
          <a:p>
            <a:pPr marL="457200" lvl="1" indent="-11430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Test: 624 images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Train/Validation/Test Split: 75% / 15% / 10%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Range: Pediatric patients (1–5 years)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Characteristics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Grayscale X-ray images with varying resolutions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classes: Normal &amp; Pneumonia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Imbalance: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Total: 5,863 images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Normal: 1,341 | Pneumonia: 4,522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 ratio ≈ 1 : 2.7 → required class weights + augmentation.</a:t>
            </a:r>
          </a:p>
          <a:p>
            <a:pPr>
              <a:lnSpc>
                <a:spcPct val="9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32927E-F0DB-B522-8CFA-67840A96E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442" y="627017"/>
            <a:ext cx="3359510" cy="2172469"/>
          </a:xfrm>
          <a:prstGeom prst="rect">
            <a:avLst/>
          </a:prstGeom>
        </p:spPr>
      </p:pic>
      <p:sp>
        <p:nvSpPr>
          <p:cNvPr id="18" name="Rectangle 8">
            <a:extLst>
              <a:ext uri="{FF2B5EF4-FFF2-40B4-BE49-F238E27FC236}">
                <a16:creationId xmlns:a16="http://schemas.microsoft.com/office/drawing/2014/main" id="{68E5CD9E-DB41-5055-8888-D08CED801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23111"/>
            <a:ext cx="2295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9066449-B425-55C8-6FF3-17337B5A6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1919" y="2814307"/>
            <a:ext cx="3139785" cy="232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3550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D9E2D7E-52D3-6ADB-7FD2-5F51A64A9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2074"/>
            <a:ext cx="6499013" cy="777366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EDA Findings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4CC79DC7-233D-44A1-6C91-2D657E868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7388" y="1210862"/>
            <a:ext cx="3780944" cy="4124723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Pneumonia: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4,273 images (73%)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1,583 images (27%)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 ratio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: 2.7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Required class weights &amp; augmentation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Size Variability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Resolutions range widely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~500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~2800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size: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1402 × 1067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 Intensity Insights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Pneumonia images show higher mean intensity and broader distribution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Patterns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Train: 5,014 | Val: 218 | Test: 624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2A310C9-0A65-80DD-E9EC-7974DAEB4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430" y="756271"/>
            <a:ext cx="2585910" cy="2000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0AB102E0-0ECA-66E8-8EA7-D23D08686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214" y="756271"/>
            <a:ext cx="2585910" cy="2000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Content Placeholder 4" descr="A collection of x-ray images of a person's chest">
            <a:extLst>
              <a:ext uri="{FF2B5EF4-FFF2-40B4-BE49-F238E27FC236}">
                <a16:creationId xmlns:a16="http://schemas.microsoft.com/office/drawing/2014/main" id="{C6D6E67A-70F2-A403-DBDD-C284DDAAF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332" y="2855074"/>
            <a:ext cx="5105668" cy="2288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58698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38B8D-7180-C6DC-9FC0-A2AA20F28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4114"/>
            <a:ext cx="7744899" cy="77736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&amp; Interpretation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54C437-3817-00A4-5074-96B46A483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5948" y="1272635"/>
            <a:ext cx="7827401" cy="2985104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“Deep learning models, especially CNNs and transfer learning architectures, can accurately classify chest X-rays into Normal and Pneumonia categories.”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models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might outperform a custom CNN.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Pneumonia should be easier to detect due to stronger visual features.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Actually Happened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tuned CNN achieved the best performance (86.86% accuracy).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 had good recall but lower precision.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EfficientNetB0 struggled due to domain mismatch with grayscale medical images.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CNNs can outperform pretrained models when optimized for medical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differences reflect dataset imbalance and domain shift.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 confirms the model focuses on relevant lung regions, supporting the hypothesis.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271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F393E-538F-2C1D-0CBA-65A7ABBF5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0439"/>
            <a:ext cx="6749627" cy="77736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3347C5-A471-C52E-C704-AE1B16BD1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949" y="1067806"/>
            <a:ext cx="5442370" cy="4075694"/>
          </a:xfrm>
        </p:spPr>
        <p:txBody>
          <a:bodyPr>
            <a:no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all images to 128×128 pixels and 224×224 pixels.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pixel values to [0,1] for stable gradient updates.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 data augmentation during CNN training: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Rotation, width/height shift, zoom, horizontal flip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representations for Traditional ML baselines:</a:t>
            </a: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(edge &amp; gradient structure)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edge and gradient structures that highlight lung shapes and pneumonia-related opacities. Extracted high-dimensional gradient features using HOG.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Linear SVM with class weight = balanced.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 Accuracy: ~97% &amp; Test Accuracy: ~74% → overfitting.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LBP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(local texture patterns)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local texture patterns that reveal fine-grained abnormalities in lung tissue.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RBF-kernel SVM for non-linear separation.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 Accuracy: ~88% &amp; Test Accuracy: ~79% → slightly better generalization.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0BCDC7-517A-6EA6-4274-7D433D476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319" y="618162"/>
            <a:ext cx="3535679" cy="21852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F82EEC-1140-2BAF-A30D-941D5A901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319" y="2822490"/>
            <a:ext cx="3521930" cy="226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057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B0A72-3083-92D5-5FE0-C73FC838A3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6147" y="642356"/>
            <a:ext cx="7772400" cy="332581"/>
          </a:xfrm>
        </p:spPr>
        <p:txBody>
          <a:bodyPr>
            <a:noAutofit/>
          </a:bodyPr>
          <a:lstStyle/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CNN Baseline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5E99E523-D3AA-14B5-C6DD-BD2DBF3A6E9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13362" y="1211191"/>
            <a:ext cx="349165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 CNN with Convolutional blocks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Dense layers with Dropout to reduce overfitting.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Trained on 128×128 grayscale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 Accuracy: 86.5%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Recall (Pneumonia): 0.98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Precision: 0.83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strong feature learning capability despite being a simple model.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01701F0-7550-5FF5-1E0F-0CD9C20B6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904" y="642356"/>
            <a:ext cx="4131734" cy="2005054"/>
          </a:xfrm>
          <a:prstGeom prst="rect">
            <a:avLst/>
          </a:prstGeom>
        </p:spPr>
      </p:pic>
      <p:pic>
        <p:nvPicPr>
          <p:cNvPr id="6154" name="Picture 10">
            <a:extLst>
              <a:ext uri="{FF2B5EF4-FFF2-40B4-BE49-F238E27FC236}">
                <a16:creationId xmlns:a16="http://schemas.microsoft.com/office/drawing/2014/main" id="{82CAA043-04A9-58AE-2DB6-3D0F4EF0A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7296" y="2675890"/>
            <a:ext cx="5466704" cy="2467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9464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9015E-94D2-41BF-DC29-2FD7470B1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ABFB8-3BF9-D246-EB6E-009B43B0A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3387"/>
            <a:ext cx="8229600" cy="3321236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residual network using skip connections for stable gradient flow.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on ImageNet; fine-tuned with custom classifier head.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Accuracy: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~75.6%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recall but low precision → over-predicts pneumonia.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Struggled due to domain shift from natural images to grayscale X-rays.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  EfficientNetB0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model using compound scaling to balance depth, width, resolution.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to be efficient and accurate on limited datasets.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Accuracy: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~62%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high recall but extremely low precision → predicts nearly all images as pneumonia.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poor adaptation to medical texture and grayscale contrast.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738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58C10-0B26-CD19-456B-A86E864FEA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1733" y="1263746"/>
            <a:ext cx="4038600" cy="3879754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  </a:t>
            </a: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50: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connectivity improves gradient flow.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feature reuse across layers.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Proven strong for medical imaging tasks.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 Test Accuracy: 86.9%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(Pneumonia): 0.9846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 0.8348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balance between false positives &amp; false negatives.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Densenet50 has the highest accuracy among the other transfer learning models</a:t>
            </a:r>
          </a:p>
        </p:txBody>
      </p:sp>
      <p:pic>
        <p:nvPicPr>
          <p:cNvPr id="7170" name="Picture 2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2C6559B4-B135-34C0-C32C-D14F3D080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53002" y="601414"/>
            <a:ext cx="4082625" cy="2326800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33C1F432-6A89-CADA-4271-4D292955C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928214"/>
            <a:ext cx="4038600" cy="221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4959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448AA-8AB0-6576-9096-0BD99AAE5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2644"/>
            <a:ext cx="8229600" cy="64406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 parameter tuning using </a:t>
            </a:r>
            <a:r>
              <a:rPr lang="en-US" sz="3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US" sz="3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7AA91-7C67-36B7-D223-6FAA09E03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451426"/>
            <a:ext cx="4038600" cy="317339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Tuned CNN architecture using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KerasTuner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Hyperband.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Adjustable parameters: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convolutional blocks : 2–4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: 16–64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size : 3 or 5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units : 128–256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: 0.3–0.5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 : 1e-4 to 1e-3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hyperparameters discovered: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 = 4, Filters = 32, Kernel = 5, Dense = 192, Dropout = 0.5, LR = 1e-4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validation accuracy reached: 96.7%</a:t>
            </a:r>
          </a:p>
          <a:p>
            <a:pPr>
              <a:lnSpc>
                <a:spcPct val="9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0AC1C6-ECCF-19C6-705A-EA31C3914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563" y="2265212"/>
            <a:ext cx="4038600" cy="2453449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7D0B17-9473-1EDD-63CC-3405DD677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563" y="1298409"/>
            <a:ext cx="4029637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159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FF4D5-8CEA-F1A7-9380-241147112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2644"/>
            <a:ext cx="8229600" cy="644065"/>
          </a:xfrm>
        </p:spPr>
        <p:txBody>
          <a:bodyPr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CNN Performance (Confusion Matrix + </a:t>
            </a: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3AE7C8-327B-8067-76C2-36E3D2F73CE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57200" y="1702605"/>
            <a:ext cx="3268133" cy="317339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 Test Accuracy: 86.86%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 performance detecting Pneumonia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Precision: 0.8348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Recall: 0.9846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F1-score: 0.9035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 cases slightly lower recall due to class imbalance.</a:t>
            </a:r>
          </a:p>
        </p:txBody>
      </p:sp>
      <p:pic>
        <p:nvPicPr>
          <p:cNvPr id="8195" name="Picture 3" descr="A comparison of a color chart&#10;&#10;AI-generated content may be incorrect.">
            <a:extLst>
              <a:ext uri="{FF2B5EF4-FFF2-40B4-BE49-F238E27FC236}">
                <a16:creationId xmlns:a16="http://schemas.microsoft.com/office/drawing/2014/main" id="{6A94C2F9-A21A-6CF5-E19F-778305BE1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77639" y="1451425"/>
            <a:ext cx="5137021" cy="2930921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314899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6D74-F83F-FF80-AD10-1775F3E83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 Explainability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C776D-4F16-E72D-D498-88ED5482D6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7547" y="1466905"/>
            <a:ext cx="3301999" cy="3173395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Explainability with Grad-CAM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 used to visualize which lung regions influenced predictions.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Positive examples highlight infiltrates and cloudy regions, as expected.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Positives often focus on ribs or noisy regions instead of lung tissue.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validate that the model is learning meaningful medical features.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3C35885A-1A08-9AE9-2D3E-90ED00631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9546" y="1167237"/>
            <a:ext cx="3024399" cy="1576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1760426E-22F3-7ED2-1428-907A4F75D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3946" y="1167237"/>
            <a:ext cx="2550054" cy="1584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>
            <a:extLst>
              <a:ext uri="{FF2B5EF4-FFF2-40B4-BE49-F238E27FC236}">
                <a16:creationId xmlns:a16="http://schemas.microsoft.com/office/drawing/2014/main" id="{C654C2EC-F208-94A8-5903-FC48DDB16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9547" y="2865398"/>
            <a:ext cx="3024398" cy="1862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>
            <a:extLst>
              <a:ext uri="{FF2B5EF4-FFF2-40B4-BE49-F238E27FC236}">
                <a16:creationId xmlns:a16="http://schemas.microsoft.com/office/drawing/2014/main" id="{03DB3567-2950-F2AD-1F8D-01C79285F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3947" y="2873195"/>
            <a:ext cx="2550054" cy="1854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825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F9AF-D334-5F7F-8062-739595EE3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ROC Curve &amp; Precision–Recall Curve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EFD07-A390-304C-4618-7678CF2AE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54626"/>
            <a:ext cx="3247813" cy="3560841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CNN – ROC &amp; Precision-Recall Analysis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 =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0.961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Excellent separability between classes.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Precision–Recall AP =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0.975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Very strong performance given class imbalance.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 curve stays high across most recall values → reliable pneumonia detection.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26993B29-ABAD-5D84-B1DE-028E6E703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280" y="1525932"/>
            <a:ext cx="5029200" cy="2619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0091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CD995-79EB-D9C4-2659-78F226CE8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2644"/>
            <a:ext cx="8229600" cy="64406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CNN vs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234A9-B886-D555-DF58-EF9CE7CD01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451426"/>
            <a:ext cx="4038600" cy="317339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tuned CNN outperforms both transfer learning models, achieving the highest accuracy (86.9%).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EfficientNetB0 underperforms despite being modern and efficient likely due to domain mismatch with medical imaging.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 performs moderately well, benefiting from deep residual connections, but still below the CNN due to over-generalization from natural images.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images require domain-aware feature extraction, which your tuned CNN handles better than ImageNet-pretrained models.</a:t>
            </a:r>
          </a:p>
          <a:p>
            <a:pPr>
              <a:lnSpc>
                <a:spcPct val="9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266" name="Picture 2" descr="A graph of a test&#10;&#10;AI-generated content may be incorrect.">
            <a:extLst>
              <a:ext uri="{FF2B5EF4-FFF2-40B4-BE49-F238E27FC236}">
                <a16:creationId xmlns:a16="http://schemas.microsoft.com/office/drawing/2014/main" id="{B646A205-138E-122E-45EB-8436A92C9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48200" y="1786158"/>
            <a:ext cx="4038600" cy="2503931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220656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EF8BA-4F23-AF6B-9042-FB1CF19EE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2644"/>
            <a:ext cx="8229600" cy="748782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3432D-4978-1A12-456F-8ED6F6FDF0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20801"/>
            <a:ext cx="8229600" cy="3473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Limited Dataset Diversity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only pediatric X-rays, so the model may not work as well on adults.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images come from one public source, not from multiple hospitals.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Transfer Learning Challenges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like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trained on natural images.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X-rays are very different, these models do not transfer perfectly.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Missing Clinical Information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no patient details like symptoms, medical history.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must make decisions only from the image, which limits medical accuracy.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Grad-CAM Limitations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 heatmaps show important regions, but they are only an approximation.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do not outline the exact pneumonia boundary only give a rough idea.</a:t>
            </a:r>
          </a:p>
        </p:txBody>
      </p:sp>
    </p:spTree>
    <p:extLst>
      <p:ext uri="{BB962C8B-B14F-4D97-AF65-F5344CB8AC3E}">
        <p14:creationId xmlns:p14="http://schemas.microsoft.com/office/powerpoint/2010/main" val="3892240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49258-188D-96F2-6608-732BDFE35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129" y="752240"/>
            <a:ext cx="6872324" cy="64406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&amp; Enhancements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F0B7A3A-1A50-C652-3B28-672CFFB20F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515285"/>
            <a:ext cx="3351654" cy="3386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Could Be Done Differently :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 of model design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segmentation-based preprocessing and test attention-based models like CNN-Attention.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change in training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k-fold cross-validation, stronger medical-specific augmentations, and better class-weight tuning.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 of data handling 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more diverse X-ray sources and create a more balanced dataset.</a:t>
            </a:r>
          </a:p>
          <a:p>
            <a:pPr marL="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DD82715-5694-AD29-FD76-329A18E5B552}"/>
                  </a:ext>
                </a:extLst>
              </p14:cNvPr>
              <p14:cNvContentPartPr/>
              <p14:nvPr/>
            </p14:nvContentPartPr>
            <p14:xfrm>
              <a:off x="8621026" y="3787752"/>
              <a:ext cx="413280" cy="7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DD82715-5694-AD29-FD76-329A18E5B5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58386" y="3725112"/>
                <a:ext cx="53892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4DF3D07-846F-FF74-25B4-FF3ECAF7633C}"/>
                  </a:ext>
                </a:extLst>
              </p14:cNvPr>
              <p14:cNvContentPartPr/>
              <p14:nvPr/>
            </p14:nvContentPartPr>
            <p14:xfrm>
              <a:off x="7926946" y="3994032"/>
              <a:ext cx="591840" cy="104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4DF3D07-846F-FF74-25B4-FF3ECAF7633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63946" y="3931392"/>
                <a:ext cx="717480" cy="22968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Content Placeholder 13" descr="A group of blue tags with icons">
            <a:extLst>
              <a:ext uri="{FF2B5EF4-FFF2-40B4-BE49-F238E27FC236}">
                <a16:creationId xmlns:a16="http://schemas.microsoft.com/office/drawing/2014/main" id="{7F649AF8-B003-420B-6DF6-35B7570A1A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3592284" y="806139"/>
            <a:ext cx="5503589" cy="3739617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F671D0C-646F-82AB-E0D8-3C7884D0562B}"/>
                  </a:ext>
                </a:extLst>
              </p14:cNvPr>
              <p14:cNvContentPartPr/>
              <p14:nvPr/>
            </p14:nvContentPartPr>
            <p14:xfrm>
              <a:off x="8295520" y="4409400"/>
              <a:ext cx="595440" cy="7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F671D0C-646F-82AB-E0D8-3C7884D0562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32520" y="4283400"/>
                <a:ext cx="721080" cy="25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2041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E815C-2AB3-94EC-8F42-6E8C95874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773" y="966804"/>
            <a:ext cx="8229600" cy="644065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5599-0B3B-7D6A-F0D5-BA6A6FF05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7400" y="1735906"/>
            <a:ext cx="7569200" cy="3173395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and compared ML + DL models for pneumonia detection.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Tuned CNN model achieved best accuracy: 86.86%, AUC = 0.961.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Outperformed transfer learning models like ResNet50 and EfficientNetB0.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 confirms model focuses on medically relevant lung regions and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Heatmaps confirmed that the model focused on relevant lung regions for its decisions.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shows strong potential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AI can support faster, more consistent pneumonia screening.</a:t>
            </a:r>
          </a:p>
          <a:p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better data and further improvements, this system can be developed into a real diagnostic tool.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D7C99D7-D126-FD59-CD67-347C30A01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86.9%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AUC = 0.961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pneumonia recall (0.985)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Outperformed transfer learning models like ResNet50 and EfficientNetB0.</a:t>
            </a:r>
          </a:p>
        </p:txBody>
      </p:sp>
    </p:spTree>
    <p:extLst>
      <p:ext uri="{BB962C8B-B14F-4D97-AF65-F5344CB8AC3E}">
        <p14:creationId xmlns:p14="http://schemas.microsoft.com/office/powerpoint/2010/main" val="3120869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17571-88AE-7692-2BF7-881830518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1FFCE-2B73-3578-4E12-1E59B4427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451426"/>
            <a:ext cx="8229599" cy="3173395"/>
          </a:xfrm>
        </p:spPr>
        <p:txBody>
          <a:bodyPr>
            <a:normAutofit fontScale="47500" lnSpcReduction="20000"/>
          </a:bodyPr>
          <a:lstStyle/>
          <a:p>
            <a:pPr marL="228600" lvl="0" indent="-228600" algn="just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Shamshad, F., Khan, S., Zamir, S. W., Khan, M. H., Hayat, M., Khan, F. S., &amp; Shah, M. (2023). Transformers in medical imaging: A comprehensive survey. Medical Image Analysis, 87, 102840. </a:t>
            </a:r>
            <a:r>
              <a:rPr lang="en-US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"/>
              </a:rPr>
              <a:t>https://doi.org/10.1016/j.media.2023.102840 </a:t>
            </a: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Shorten, C., &amp;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Khoshgoftaar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T. M. (2019). A survey on image data augmentation for deep learning. Journal of Big Data, 6(1), 60. </a:t>
            </a:r>
            <a:r>
              <a:rPr lang="en-US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https://doi.org/10.1186/s40537-019-0197-0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dirty="0"/>
          </a:p>
          <a:p>
            <a:pPr marL="228600" lvl="0" indent="-22860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Tan, M., &amp; Le, Q. V. (2019).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EfficientNet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: Rethinking model scaling for convolutional neural networks. Proceedings of the 36th International Conference on Machine Learning (ICML), 6105–6114. </a:t>
            </a:r>
            <a:r>
              <a:rPr lang="en-US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http://proceedings.mlr.press/v97/tan19a.html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dirty="0"/>
          </a:p>
          <a:p>
            <a:pPr marL="228600" lvl="0" indent="-22860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He, K., Zhang, X., Ren, S., &amp; Sun, J. (2016). Deep residual learning for image recognition. Proceedings of the IEEE Conference on Computer Vision and Pattern Recognition (CVPR), 770–778. </a:t>
            </a:r>
            <a:r>
              <a:rPr lang="en-US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https://doi.org/10.1109/CVPR.2016.90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dirty="0"/>
          </a:p>
          <a:p>
            <a:pPr marL="228600" lvl="0" indent="-22860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Rajpurkar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P., Irvin, J., Zhu, K., Yang, B., Mehta, H., Duan, T., Ding, D., Bagul, A., Langlotz, C.,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Shpanskaya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K., Lungren, M. P., &amp; Ng, A. Y. (2017). CheXNet: Radiologist-level pneumonia detection on chest X-rays with deep learning.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arXiv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preprint arXiv:1711.05225. </a:t>
            </a:r>
            <a:r>
              <a:rPr lang="en-US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https://arxiv.org/abs/1711.05225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dirty="0"/>
          </a:p>
          <a:p>
            <a:pPr marL="228600" lvl="0" indent="-22860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Litjens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G., Kooi, T.,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Bejnordi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B. E.,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Setio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A. A. A.,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Ciompi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F.,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Ghafoorian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M., van der Laak, J. A. W. M., van Ginneken, B., &amp; Sánchez, C. I. (2017). A survey on deep learning in medical image analysis. Medical Image Analysis, 42, 60–88. </a:t>
            </a:r>
            <a:r>
              <a:rPr lang="en-US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https://doi.org/10.1016/j.media.2017.07.005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754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EF15F-63D7-4CA3-2D78-EFC42431C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49717"/>
            <a:ext cx="8229600" cy="64406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Questions?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650686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DA35A-5212-7141-D7B6-10163D74B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49717"/>
            <a:ext cx="8229600" cy="64406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21869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1723</TotalTime>
  <Words>2012</Words>
  <Application>Microsoft Office PowerPoint</Application>
  <PresentationFormat>On-screen Show (16:9)</PresentationFormat>
  <Paragraphs>192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Office Theme</vt:lpstr>
      <vt:lpstr>EARLY DISEASE DETECTION USING MEDICAL IMAGING</vt:lpstr>
      <vt:lpstr>PowerPoint Presentation</vt:lpstr>
      <vt:lpstr>Project Overview  </vt:lpstr>
      <vt:lpstr>Literature review</vt:lpstr>
      <vt:lpstr>Dataset overview</vt:lpstr>
      <vt:lpstr>Key EDA Findings</vt:lpstr>
      <vt:lpstr>Hypothesis &amp; Interpretation</vt:lpstr>
      <vt:lpstr>Data Preprocessing</vt:lpstr>
      <vt:lpstr>     CNN Baseline</vt:lpstr>
      <vt:lpstr>Transfer Learning</vt:lpstr>
      <vt:lpstr>PowerPoint Presentation</vt:lpstr>
      <vt:lpstr>Hyper parameter tuning using Keras</vt:lpstr>
      <vt:lpstr>Best CNN Performance (Confusion Matrix + Metrics)</vt:lpstr>
      <vt:lpstr>Grad-CAM Explainability</vt:lpstr>
      <vt:lpstr>ROC Curve &amp; Precision–Recall Curve</vt:lpstr>
      <vt:lpstr>Combined CNN vs EfficientNet vs ResNet Comparison</vt:lpstr>
      <vt:lpstr>Limitations </vt:lpstr>
      <vt:lpstr>Future Work &amp; Enhancements </vt:lpstr>
      <vt:lpstr>Conclusion</vt:lpstr>
      <vt:lpstr>References</vt:lpstr>
      <vt:lpstr>Questions?</vt:lpstr>
      <vt:lpstr>Thank You</vt:lpstr>
    </vt:vector>
  </TitlesOfParts>
  <Company>UMBC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Jim Lord</dc:creator>
  <cp:lastModifiedBy>chinthala kaushik</cp:lastModifiedBy>
  <cp:revision>5</cp:revision>
  <dcterms:created xsi:type="dcterms:W3CDTF">2019-02-27T15:38:32Z</dcterms:created>
  <dcterms:modified xsi:type="dcterms:W3CDTF">2025-12-10T19:24:36Z</dcterms:modified>
</cp:coreProperties>
</file>